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Annualized Return (%)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6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NVDA</c:v>
                  </c:pt>
                  <c:pt idx="1">
                    <c:v>GS</c:v>
                  </c:pt>
                  <c:pt idx="2">
                    <c:v>XOM</c:v>
                  </c:pt>
                  <c:pt idx="3">
                    <c:v>GOOGL</c:v>
                  </c:pt>
                  <c:pt idx="4">
                    <c:v>JPM</c:v>
                  </c:pt>
                  <c:pt idx="5">
                    <c:v>CVX</c:v>
                  </c:pt>
                  <c:pt idx="6">
                    <c:v>AAPL</c:v>
                  </c:pt>
                  <c:pt idx="7">
                    <c:v>WMT</c:v>
                  </c:pt>
                  <c:pt idx="8">
                    <c:v>BAC</c:v>
                  </c:pt>
                  <c:pt idx="9">
                    <c:v>MSFT</c:v>
                  </c:pt>
                  <c:pt idx="10">
                    <c:v>JNJ</c:v>
                  </c:pt>
                  <c:pt idx="11">
                    <c:v>AMZN</c:v>
                  </c:pt>
                  <c:pt idx="12">
                    <c:v>UNH</c:v>
                  </c:pt>
                  <c:pt idx="13">
                    <c:v>PG</c:v>
                  </c:pt>
                  <c:pt idx="14">
                    <c:v>PFE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64.5</c:v>
                </c:pt>
                <c:pt idx="1">
                  <c:v>31.8</c:v>
                </c:pt>
                <c:pt idx="2">
                  <c:v>30.9</c:v>
                </c:pt>
                <c:pt idx="3">
                  <c:v>28.9</c:v>
                </c:pt>
                <c:pt idx="4">
                  <c:v>23</c:v>
                </c:pt>
                <c:pt idx="5">
                  <c:v>20.4</c:v>
                </c:pt>
                <c:pt idx="6">
                  <c:v>19.4</c:v>
                </c:pt>
                <c:pt idx="7">
                  <c:v>18.2</c:v>
                </c:pt>
                <c:pt idx="8">
                  <c:v>16.6</c:v>
                </c:pt>
                <c:pt idx="9">
                  <c:v>12.3</c:v>
                </c:pt>
                <c:pt idx="10">
                  <c:v>12.2</c:v>
                </c:pt>
                <c:pt idx="11">
                  <c:v>8.3</c:v>
                </c:pt>
                <c:pt idx="12">
                  <c:v>5.5</c:v>
                </c:pt>
                <c:pt idx="13">
                  <c:v>4.2</c:v>
                </c:pt>
                <c:pt idx="14">
                  <c:v>-1.9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6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6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F8C8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F8C8D"/>
                    </a:solidFill>
                    <a:latin typeface="Arial"/>
                  </a:rPr>
                  <a:t>Annualized Return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AED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6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NVDA</c:v>
                  </c:pt>
                  <c:pt idx="1">
                    <c:v>GS</c:v>
                  </c:pt>
                  <c:pt idx="2">
                    <c:v>XOM</c:v>
                  </c:pt>
                  <c:pt idx="3">
                    <c:v>JPM</c:v>
                  </c:pt>
                  <c:pt idx="4">
                    <c:v>BAC</c:v>
                  </c:pt>
                  <c:pt idx="5">
                    <c:v>CVX</c:v>
                  </c:pt>
                  <c:pt idx="6">
                    <c:v>AAPL</c:v>
                  </c:pt>
                  <c:pt idx="7">
                    <c:v>WMT</c:v>
                  </c:pt>
                  <c:pt idx="8">
                    <c:v>MSFT</c:v>
                  </c:pt>
                  <c:pt idx="9">
                    <c:v>JNJ</c:v>
                  </c:pt>
                  <c:pt idx="10">
                    <c:v>AMZN</c:v>
                  </c:pt>
                  <c:pt idx="11">
                    <c:v>UNH</c:v>
                  </c:pt>
                  <c:pt idx="12">
                    <c:v>PG</c:v>
                  </c:pt>
                  <c:pt idx="13">
                    <c:v>PFE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1.14</c:v>
                </c:pt>
                <c:pt idx="1">
                  <c:v>0.96</c:v>
                </c:pt>
                <c:pt idx="2">
                  <c:v>0.96</c:v>
                </c:pt>
                <c:pt idx="3">
                  <c:v>0.79</c:v>
                </c:pt>
                <c:pt idx="4">
                  <c:v>0.54</c:v>
                </c:pt>
                <c:pt idx="5">
                  <c:v>0.69</c:v>
                </c:pt>
                <c:pt idx="6">
                  <c:v>0.62</c:v>
                </c:pt>
                <c:pt idx="7">
                  <c:v>0.68</c:v>
                </c:pt>
                <c:pt idx="8">
                  <c:v>0.4</c:v>
                </c:pt>
                <c:pt idx="9">
                  <c:v>0.5</c:v>
                </c:pt>
                <c:pt idx="10">
                  <c:v>0.28</c:v>
                </c:pt>
                <c:pt idx="11">
                  <c:v>0.19</c:v>
                </c:pt>
                <c:pt idx="12">
                  <c:v>0.07</c:v>
                </c:pt>
                <c:pt idx="13">
                  <c:v>-0.13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6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6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63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631"/>
                </a:solidFill>
                <a:latin typeface="Arial"/>
              </a:rPr>
              <a:t>Average Sharpe Ratio by Sector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Sharpe Ratio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6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Technology</c:v>
                  </c:pt>
                  <c:pt idx="1">
                    <c:v>Energy</c:v>
                  </c:pt>
                  <c:pt idx="2">
                    <c:v>Financials</c:v>
                  </c:pt>
                  <c:pt idx="3">
                    <c:v>Consumer</c:v>
                  </c:pt>
                  <c:pt idx="4">
                    <c:v>Healthcare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</c:v>
                </c:pt>
                <c:pt idx="1">
                  <c:v>0.82</c:v>
                </c:pt>
                <c:pt idx="2">
                  <c:v>0.77</c:v>
                </c:pt>
                <c:pt idx="3">
                  <c:v>0.34</c:v>
                </c:pt>
                <c:pt idx="4">
                  <c:v>0.19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6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3A5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63A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AED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MARKET PORTFOLIO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Return Analytics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analysis of a 15-stock, 5-sector equal-weight portfolio,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on real market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institutional-grade risk &amp; return analytics pipeline on real market data — not a synthetic dataset.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risk-adjusted performance for 15 individual stocks using Sharpe Ratio, Beta, Alpha, VaR, CVaR, and Max Drawdown.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simple equal-weight, multi-sector portfolio genuinely reduces risk versus holding single stocks.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findings through three layers recruiters look for: Python analysis, SQL querying, and a Power BI dashboard.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06640" y="137160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0" y="2816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80960" y="3685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yrs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80960" y="4553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4800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80960" y="5422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(S&amp;P 500)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Risk &amp; Return Analytics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Pipeline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(yfinance) — real daily OHLCV prices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US stocks: Technology, Financials, Healthcare, Consumer, Energy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0" y="128016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2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5820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– Jul 2026, aligned across all 15 tickers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PYTHON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84148" y="3611880"/>
            <a:ext cx="512064" cy="51206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1184148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31720" y="37947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68880" y="3429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4388" y="3611880"/>
            <a:ext cx="512064" cy="51206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3104388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6888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51960" y="37947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9120" y="3429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4628" y="3611880"/>
            <a:ext cx="512064" cy="51206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4628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8912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72200" y="37947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9360" y="3429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4868" y="3611880"/>
            <a:ext cx="512064" cy="51206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0" name="Text 28"/>
          <p:cNvSpPr/>
          <p:nvPr/>
        </p:nvSpPr>
        <p:spPr>
          <a:xfrm>
            <a:off x="6944868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0936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92440" y="37947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0" y="3429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865108" y="3611880"/>
            <a:ext cx="512064" cy="51206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5" name="Text 33"/>
          <p:cNvSpPr/>
          <p:nvPr/>
        </p:nvSpPr>
        <p:spPr>
          <a:xfrm>
            <a:off x="8865108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012680" y="37947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149840" y="3429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785348" y="3611880"/>
            <a:ext cx="512064" cy="51206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0" name="Text 38"/>
          <p:cNvSpPr/>
          <p:nvPr/>
        </p:nvSpPr>
        <p:spPr>
          <a:xfrm>
            <a:off x="10785348" y="3611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149840" y="4206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Load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script prints a summary and writes to data/processed/, outputs/, or powerbi/ — the whole pipeline is inspectable at every stage.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Risk &amp; Return Analytics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Metrics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metrics computed for every stock and for the equal-weight portfolio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 vs. a 4.5% risk-free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83080"/>
            <a:ext cx="411480" cy="4114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the S&amp;P 500 (systematic risk)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783080"/>
            <a:ext cx="411480" cy="41148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excess return after adjusting for Beta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56616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453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95% / 99% daily loss threshold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33756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56616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453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given that VaR is breached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33756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566160"/>
            <a:ext cx="411480" cy="41148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4531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peak-to-trough decline &amp; duration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Risk &amp; Return Analytics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Stock-Level Results: Annualized Return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110642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leads at 64.5% (AI-driven, high volatility) · PFE is the only negative performer at -1.9%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Diversification Actually Pay Off?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(risk-adjusted return) by stock, vs. the equal-weight portfolio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463040"/>
            <a:ext cx="2926080" cy="4846320"/>
          </a:xfrm>
          <a:prstGeom prst="roundRect">
            <a:avLst>
              <a:gd name="adj" fmla="val 3750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SHARPE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15400" y="2103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1.09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915400" y="32461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NVDA, GS, and XOM individually beat this on a risk-adjusted basis — everything else the portfolio outperforms.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915400" y="5486400"/>
            <a:ext cx="2468880" cy="0"/>
          </a:xfrm>
          <a:prstGeom prst="line">
            <a:avLst/>
          </a:prstGeom>
          <a:noFill/>
          <a:ln w="12700">
            <a:solidFill>
              <a:srgbClr val="AED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5623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 -19.9%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-66.3% for NVDA alone)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Performance vs. S&amp;P 500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254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Return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15.4%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423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Volatility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25400">
            <a:solidFill>
              <a:srgbClr val="1B4F7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26480" y="2423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-19.9%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15400" y="2423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DIVERSIFICATION 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grew to nearly 3x its starting value over 5.5 years, consistently ahead of the S&amp;P 500 benchmark.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achieved this while holding volatility (15.4%) well below almost every individual stock (avg. ~27%).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Sharpe Ratio of 1.09 beats 12 of the 15 individual stocks — diversification genuinely improved risk-adjusted return, not just reduced risk.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Risk &amp; Return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Behavior &amp; Diversification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43800" y="1234440"/>
            <a:ext cx="4069080" cy="4206240"/>
          </a:xfrm>
          <a:prstGeom prst="roundRect">
            <a:avLst>
              <a:gd name="adj" fmla="val 2697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8181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INSIGHTS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1812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18120" y="24688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pairwise correlation across all 15 stocks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3154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18120" y="3703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 / XOM — most correlated (both oil majors)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18120" y="4389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818120" y="49377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/ JNJ — least correlated (best diversifiers)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Risk &amp; Return Analytics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&amp; 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8 Analytical Queries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Sector-ranked Sharpe leaderboard — RANK() OVER window function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risk-budget contribution — subquery + aggregation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beating the portfolio on both Sharpe and drawdown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Most/least correlated pairs for diversification analysis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vs. benchmark day-over-day % change — LAG() OVER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1B4F72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4-Page Dashboard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8660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86600" y="2258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growth vs. benchmark, sector allocation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2926080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Return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32186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Volatility/return scatter, full metrics table, sector filter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3886200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86600" y="38679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&amp; Drawdown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41788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95%/99% VaR comparison, ranked drawdown, tail-risk detail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4846320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828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51389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15×15 heatmap, most/least correlated pairs, avg correlation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Risk &amp; Return Analytics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91440" cy="1188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813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Trading-day alignment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481328"/>
            <a:ext cx="7223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stocks are joined on dates where every ticker traded, so correlation and portfolio return comparisons are never distorted by mismatched calendars.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70048"/>
            <a:ext cx="91440" cy="11887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7977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method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779776"/>
            <a:ext cx="7223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empirical percentile of actual returns rather than a parametric (normal-distribution) model — makes no assumption returns are normally distributed.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968496"/>
            <a:ext cx="91440" cy="1188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7822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risk-free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4078224"/>
            <a:ext cx="7223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4.5% annual rate is set explicitly in config.py, not silently baked in, since it directly affects Sharpe Ratio and Alpha.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266944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2F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5266944"/>
            <a:ext cx="91440" cy="118872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766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weighting scheme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5376672"/>
            <a:ext cx="7223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is the transparent base case; the pipeline is structured so market-cap or minimum-variance weighting could be swapped in without touching the metrics functions.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Portfolio Risk &amp; Return Analytics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62872" y="6473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Aminu Momodu Audu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3A5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63A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SQL queries, and the live Power BI dashboard are available in the GitHub repository below.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github.com/Amimu-1/stock_portfolio_analytics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linkedin.com/in/aminu-momodu-audu-040359406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fiverr.com/s/yvKRxkz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2026-07-23T00:32:42Z</dcterms:created>
  <dcterms:modified xsi:type="dcterms:W3CDTF">2026-07-23T00:32:42Z</dcterms:modified>
</cp:coreProperties>
</file>